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2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Biweekly Termination Access Review</a:t>
            </a:r>
          </a:p>
        </p:txBody>
      </p:sp>
      <p:sp>
        <p:nvSpPr>
          <p:cNvPr id="4" name="t4"/>
          <p:cNvSpPr txBox="1"/>
          <p:nvPr/>
        </p:nvSpPr>
        <p:spPr>
          <a:xfrm>
            <a:off x="932688" y="320040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800" b="0" dirty="0">
                <a:solidFill>
                  <a:srgbClr val="C9D6E2"/>
                </a:solidFill>
                <a:latin typeface="Calibri"/>
              </a:rPr>
              <a:t>From manual spreadsheet control to a verified, automated detective control</a:t>
            </a:r>
          </a:p>
        </p:txBody>
      </p:sp>
      <p:sp>
        <p:nvSpPr>
          <p:cNvPr id="5" name="b5"/>
          <p:cNvSpPr/>
          <p:nvPr/>
        </p:nvSpPr>
        <p:spPr>
          <a:xfrm>
            <a:off x="932688" y="4114800"/>
            <a:ext cx="2926080" cy="457200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Reference implementation demo</a:t>
            </a:r>
          </a:p>
        </p:txBody>
      </p:sp>
      <p:sp>
        <p:nvSpPr>
          <p:cNvPr id="6" name="t6"/>
          <p:cNvSpPr txBox="1"/>
          <p:nvPr/>
        </p:nvSpPr>
        <p:spPr>
          <a:xfrm>
            <a:off x="932688" y="6035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100" b="0" dirty="0">
                <a:solidFill>
                  <a:srgbClr val="8FA6B8"/>
                </a:solidFill>
                <a:latin typeface="Calibri"/>
              </a:rPr>
              <a:t>All results produced on synthetic, de-identified data in an isolated sandbox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2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1F3B57"/>
                </a:solidFill>
                <a:latin typeface="Calibri"/>
              </a:rPr>
              <a:t>The manual control today</a:t>
            </a:r>
          </a:p>
        </p:txBody>
      </p:sp>
      <p:sp>
        <p:nvSpPr>
          <p:cNvPr id="4" name="t4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 dirty="0">
                <a:solidFill>
                  <a:srgbClr val="4E6E8E"/>
                </a:solidFill>
                <a:latin typeface="Calibri"/>
              </a:rPr>
              <a:t>Same steps, every two weeks, per application</a:t>
            </a:r>
          </a:p>
        </p:txBody>
      </p:sp>
      <p:sp>
        <p:nvSpPr>
          <p:cNvPr id="5" name="t5"/>
          <p:cNvSpPr txBox="1"/>
          <p:nvPr/>
        </p:nvSpPr>
        <p:spPr>
          <a:xfrm>
            <a:off x="640080" y="1737360"/>
            <a:ext cx="10881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•  Per-app exports → VLOOKUP against an exception list → verification script → hand-created ServiceNow tickets</a:t>
            </a:r>
          </a:p>
        </p:txBody>
      </p:sp>
      <p:sp>
        <p:nvSpPr>
          <p:cNvPr id="6" name="t6"/>
          <p:cNvSpPr txBox="1"/>
          <p:nvPr/>
        </p:nvSpPr>
        <p:spPr>
          <a:xfrm>
            <a:off x="640080" y="2304288"/>
            <a:ext cx="10881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•  Consolidated reporting covers only 12 of 19 applications</a:t>
            </a:r>
          </a:p>
        </p:txBody>
      </p:sp>
      <p:sp>
        <p:nvSpPr>
          <p:cNvPr id="7" name="t7"/>
          <p:cNvSpPr txBox="1"/>
          <p:nvPr/>
        </p:nvSpPr>
        <p:spPr>
          <a:xfrm>
            <a:off x="640080" y="2871215"/>
            <a:ext cx="10881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•  Ambiguous records (“not found in HR”, malformed status) have no lane — they pass silently</a:t>
            </a:r>
          </a:p>
        </p:txBody>
      </p:sp>
      <p:sp>
        <p:nvSpPr>
          <p:cNvPr id="8" name="t8"/>
          <p:cNvSpPr txBox="1"/>
          <p:nvPr/>
        </p:nvSpPr>
        <p:spPr>
          <a:xfrm>
            <a:off x="640080" y="3438144"/>
            <a:ext cx="10881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•  Ticket closure is taken on faith: nothing verifies access was actually removed</a:t>
            </a:r>
          </a:p>
        </p:txBody>
      </p:sp>
      <p:sp>
        <p:nvSpPr>
          <p:cNvPr id="9" name="b9"/>
          <p:cNvSpPr/>
          <p:nvPr/>
        </p:nvSpPr>
        <p:spPr>
          <a:xfrm>
            <a:off x="822960" y="4297680"/>
            <a:ext cx="3108960" cy="105156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12 / 19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822960" y="5394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applications covered by the consolidated report</a:t>
            </a:r>
          </a:p>
        </p:txBody>
      </p:sp>
      <p:sp>
        <p:nvSpPr>
          <p:cNvPr id="11" name="b11"/>
          <p:cNvSpPr/>
          <p:nvPr/>
        </p:nvSpPr>
        <p:spPr>
          <a:xfrm>
            <a:off x="4572000" y="4297680"/>
            <a:ext cx="3108960" cy="1051560"/>
          </a:xfrm>
          <a:prstGeom prst="roundRect">
            <a:avLst/>
          </a:prstGeom>
          <a:solidFill>
            <a:srgbClr val="B8860B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16 : 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572000" y="5394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ambiguous records vs. clear terminations in real data</a:t>
            </a:r>
          </a:p>
        </p:txBody>
      </p:sp>
      <p:sp>
        <p:nvSpPr>
          <p:cNvPr id="13" name="b13"/>
          <p:cNvSpPr/>
          <p:nvPr/>
        </p:nvSpPr>
        <p:spPr>
          <a:xfrm>
            <a:off x="8321040" y="4297680"/>
            <a:ext cx="3108960" cy="1051560"/>
          </a:xfrm>
          <a:prstGeom prst="roundRect">
            <a:avLst/>
          </a:prstGeom>
          <a:solidFill>
            <a:srgbClr val="A63A3A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321040" y="5394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independent proof that closed tickets = removed access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2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1F3B57"/>
                </a:solidFill>
                <a:latin typeface="Calibri"/>
              </a:rPr>
              <a:t>Design principles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 dirty="0">
                <a:solidFill>
                  <a:srgbClr val="4E6E8E"/>
                </a:solidFill>
                <a:latin typeface="Calibri"/>
              </a:rPr>
              <a:t>Why it was built this way</a:t>
            </a:r>
          </a:p>
        </p:txBody>
      </p:sp>
      <p:sp>
        <p:nvSpPr>
          <p:cNvPr id="5" name="t5"/>
          <p:cNvSpPr txBox="1"/>
          <p:nvPr/>
        </p:nvSpPr>
        <p:spPr>
          <a:xfrm>
            <a:off x="640080" y="1691640"/>
            <a:ext cx="108813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1.  HR employment status is the only authority — Okta state is enrichment, not truth</a:t>
            </a:r>
          </a:p>
        </p:txBody>
      </p:sp>
      <p:sp>
        <p:nvSpPr>
          <p:cNvPr id="6" name="t6"/>
          <p:cNvSpPr txBox="1"/>
          <p:nvPr/>
        </p:nvSpPr>
        <p:spPr>
          <a:xfrm>
            <a:off x="640080" y="2404872"/>
            <a:ext cx="108813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2.  Detective control: the pipeline detects, evidences, tracks — it never removes access</a:t>
            </a:r>
          </a:p>
        </p:txBody>
      </p:sp>
      <p:sp>
        <p:nvSpPr>
          <p:cNvPr id="7" name="t7"/>
          <p:cNvSpPr txBox="1"/>
          <p:nvPr/>
        </p:nvSpPr>
        <p:spPr>
          <a:xfrm>
            <a:off x="640080" y="3118104"/>
            <a:ext cx="108813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3.  Never default-to-fine: three-branch classification with a loud “cannot tell” queue</a:t>
            </a:r>
          </a:p>
        </p:txBody>
      </p:sp>
      <p:sp>
        <p:nvSpPr>
          <p:cNvPr id="8" name="t8"/>
          <p:cNvSpPr txBox="1"/>
          <p:nvPr/>
        </p:nvSpPr>
        <p:spPr>
          <a:xfrm>
            <a:off x="640080" y="3831335"/>
            <a:ext cx="108813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4.  An exception never suppresses a termination; exceptions carry an owner and an expiry</a:t>
            </a:r>
          </a:p>
        </p:txBody>
      </p:sp>
      <p:sp>
        <p:nvSpPr>
          <p:cNvPr id="9" name="t9"/>
          <p:cNvSpPr txBox="1"/>
          <p:nvPr/>
        </p:nvSpPr>
        <p:spPr>
          <a:xfrm>
            <a:off x="640080" y="4544568"/>
            <a:ext cx="108813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5.  Closure is proven by the next independent export — attestation is never evidence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40080" y="5257800"/>
            <a:ext cx="108813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0" dirty="0">
                <a:solidFill>
                  <a:srgbClr val="333333"/>
                </a:solidFill>
                <a:latin typeface="Calibri"/>
              </a:rPr>
              <a:t>6.  Automation rule: certainty + non-privileged = automatic; everything else = human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2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1F3B57"/>
                </a:solidFill>
                <a:latin typeface="Calibri"/>
              </a:rPr>
              <a:t>How a cycle runs</a:t>
            </a:r>
          </a:p>
        </p:txBody>
      </p:sp>
      <p:sp>
        <p:nvSpPr>
          <p:cNvPr id="4" name="b4"/>
          <p:cNvSpPr/>
          <p:nvPr/>
        </p:nvSpPr>
        <p:spPr>
          <a:xfrm>
            <a:off x="548640" y="1737360"/>
            <a:ext cx="2103120" cy="777240"/>
          </a:xfrm>
          <a:prstGeom prst="roundRect">
            <a:avLst/>
          </a:prstGeom>
          <a:solidFill>
            <a:srgbClr val="4E6E8E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App exports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(10 apps)</a:t>
            </a:r>
          </a:p>
        </p:txBody>
      </p:sp>
      <p:sp>
        <p:nvSpPr>
          <p:cNvPr id="5" name="b5"/>
          <p:cNvSpPr/>
          <p:nvPr/>
        </p:nvSpPr>
        <p:spPr>
          <a:xfrm>
            <a:off x="548640" y="2743200"/>
            <a:ext cx="2103120" cy="777240"/>
          </a:xfrm>
          <a:prstGeom prst="roundRect">
            <a:avLst/>
          </a:prstGeom>
          <a:solidFill>
            <a:srgbClr val="4E6E8E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HR status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(TalentHub)</a:t>
            </a:r>
          </a:p>
        </p:txBody>
      </p:sp>
      <p:sp>
        <p:nvSpPr>
          <p:cNvPr id="6" name="b6"/>
          <p:cNvSpPr/>
          <p:nvPr/>
        </p:nvSpPr>
        <p:spPr>
          <a:xfrm>
            <a:off x="548640" y="3749039"/>
            <a:ext cx="2103120" cy="777240"/>
          </a:xfrm>
          <a:prstGeom prst="roundRect">
            <a:avLst/>
          </a:prstGeom>
          <a:solidFill>
            <a:srgbClr val="4E6E8E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Okta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(live state)</a:t>
            </a:r>
          </a:p>
        </p:txBody>
      </p:sp>
      <p:sp>
        <p:nvSpPr>
          <p:cNvPr id="7" name="a7"/>
          <p:cNvSpPr/>
          <p:nvPr/>
        </p:nvSpPr>
        <p:spPr>
          <a:xfrm>
            <a:off x="2788920" y="2971800"/>
            <a:ext cx="685800" cy="365760"/>
          </a:xfrm>
          <a:prstGeom prst="rightArrow">
            <a:avLst/>
          </a:prstGeom>
          <a:solidFill>
            <a:srgbClr val="2A7F7F"/>
          </a:solidFill>
        </p:spPr>
        <p:txBody>
          <a:bodyPr/>
          <a:lstStyle/>
          <a:p/>
        </p:txBody>
      </p:sp>
      <p:sp>
        <p:nvSpPr>
          <p:cNvPr id="8" name="b8"/>
          <p:cNvSpPr/>
          <p:nvPr/>
        </p:nvSpPr>
        <p:spPr>
          <a:xfrm>
            <a:off x="3566160" y="2286000"/>
            <a:ext cx="2834640" cy="173736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Reconciliation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3-way join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risk-tier classifier</a:t>
            </a:r>
          </a:p>
        </p:txBody>
      </p:sp>
      <p:sp>
        <p:nvSpPr>
          <p:cNvPr id="9" name="a9"/>
          <p:cNvSpPr/>
          <p:nvPr/>
        </p:nvSpPr>
        <p:spPr>
          <a:xfrm>
            <a:off x="6537960" y="2377440"/>
            <a:ext cx="640080" cy="365760"/>
          </a:xfrm>
          <a:prstGeom prst="rightArrow">
            <a:avLst/>
          </a:prstGeom>
          <a:solidFill>
            <a:srgbClr val="2A7F7F"/>
          </a:solidFill>
        </p:spPr>
        <p:txBody>
          <a:bodyPr/>
          <a:lstStyle/>
          <a:p/>
        </p:txBody>
      </p:sp>
      <p:sp>
        <p:nvSpPr>
          <p:cNvPr id="10" name="a10"/>
          <p:cNvSpPr/>
          <p:nvPr/>
        </p:nvSpPr>
        <p:spPr>
          <a:xfrm>
            <a:off x="6537960" y="3566160"/>
            <a:ext cx="640080" cy="365760"/>
          </a:xfrm>
          <a:prstGeom prst="rightArrow">
            <a:avLst/>
          </a:prstGeom>
          <a:solidFill>
            <a:srgbClr val="2A7F7F"/>
          </a:solidFill>
        </p:spPr>
        <p:txBody>
          <a:bodyPr/>
          <a:lstStyle/>
          <a:p/>
        </p:txBody>
      </p:sp>
      <p:sp>
        <p:nvSpPr>
          <p:cNvPr id="11" name="b11"/>
          <p:cNvSpPr/>
          <p:nvPr/>
        </p:nvSpPr>
        <p:spPr>
          <a:xfrm>
            <a:off x="7269480" y="2057400"/>
            <a:ext cx="4206240" cy="914400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Audit workbook + digests + snapshots</a:t>
            </a:r>
          </a:p>
        </p:txBody>
      </p:sp>
      <p:sp>
        <p:nvSpPr>
          <p:cNvPr id="12" name="b12"/>
          <p:cNvSpPr/>
          <p:nvPr/>
        </p:nvSpPr>
        <p:spPr>
          <a:xfrm>
            <a:off x="7269480" y="3291840"/>
            <a:ext cx="4206240" cy="914400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ServiceNow  REQ → RITM → Task (auto-filled)</a:t>
            </a:r>
          </a:p>
        </p:txBody>
      </p:sp>
      <p:sp>
        <p:nvSpPr>
          <p:cNvPr id="13" name="b13"/>
          <p:cNvSpPr/>
          <p:nvPr/>
        </p:nvSpPr>
        <p:spPr>
          <a:xfrm>
            <a:off x="3566160" y="4846320"/>
            <a:ext cx="7909560" cy="914400"/>
          </a:xfrm>
          <a:prstGeom prst="roundRect">
            <a:avLst/>
          </a:prstGeom>
          <a:solidFill>
            <a:srgbClr val="B8860B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Next cycle: verify removal against fresh export → evidence on ticket, or auto-reopen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548640" y="489204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alibri"/>
              </a:rPr>
              <a:t>Removal itself stays manual —</a:t>
            </a:r>
          </a:p>
          <a:p>
            <a:pPr algn="l"/>
            <a:r>
              <a:rPr lang="en-US" sz="1100" b="0" dirty="0">
                <a:solidFill>
                  <a:srgbClr val="333333"/>
                </a:solidFill>
                <a:latin typeface="Calibri"/>
              </a:rPr>
              <a:t>the pipeline never touches access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2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1F3B57"/>
                </a:solidFill>
                <a:latin typeface="Calibri"/>
              </a:rPr>
              <a:t>What the demo proved</a:t>
            </a:r>
          </a:p>
        </p:txBody>
      </p:sp>
      <p:sp>
        <p:nvSpPr>
          <p:cNvPr id="4" name="t4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 dirty="0">
                <a:solidFill>
                  <a:srgbClr val="4E6E8E"/>
                </a:solidFill>
                <a:latin typeface="Calibri"/>
              </a:rPr>
              <a:t>Every number reconciles to the record</a:t>
            </a:r>
          </a:p>
        </p:txBody>
      </p:sp>
      <p:sp>
        <p:nvSpPr>
          <p:cNvPr id="5" name="b5"/>
          <p:cNvSpPr/>
          <p:nvPr/>
        </p:nvSpPr>
        <p:spPr>
          <a:xfrm>
            <a:off x="640080" y="1737360"/>
            <a:ext cx="2011680" cy="105156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4,404</a:t>
            </a:r>
          </a:p>
        </p:txBody>
      </p:sp>
      <p:sp>
        <p:nvSpPr>
          <p:cNvPr id="6" name="t6"/>
          <p:cNvSpPr txBox="1"/>
          <p:nvPr/>
        </p:nvSpPr>
        <p:spPr>
          <a:xfrm>
            <a:off x="640080" y="2834639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records certified per cycle, 10 apps</a:t>
            </a:r>
          </a:p>
        </p:txBody>
      </p:sp>
      <p:sp>
        <p:nvSpPr>
          <p:cNvPr id="7" name="b7"/>
          <p:cNvSpPr/>
          <p:nvPr/>
        </p:nvSpPr>
        <p:spPr>
          <a:xfrm>
            <a:off x="2880360" y="1737360"/>
            <a:ext cx="2011680" cy="105156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" name="t8"/>
          <p:cNvSpPr txBox="1"/>
          <p:nvPr/>
        </p:nvSpPr>
        <p:spPr>
          <a:xfrm>
            <a:off x="2880360" y="2834639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confirmed terminations → tickets auto-created</a:t>
            </a:r>
          </a:p>
        </p:txBody>
      </p:sp>
      <p:sp>
        <p:nvSpPr>
          <p:cNvPr id="9" name="b9"/>
          <p:cNvSpPr/>
          <p:nvPr/>
        </p:nvSpPr>
        <p:spPr>
          <a:xfrm>
            <a:off x="5120640" y="1737360"/>
            <a:ext cx="2011680" cy="1051560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5120640" y="2834639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removals verified + evidenced on ticket</a:t>
            </a:r>
          </a:p>
        </p:txBody>
      </p:sp>
      <p:sp>
        <p:nvSpPr>
          <p:cNvPr id="11" name="b11"/>
          <p:cNvSpPr/>
          <p:nvPr/>
        </p:nvSpPr>
        <p:spPr>
          <a:xfrm>
            <a:off x="7360920" y="1737360"/>
            <a:ext cx="2011680" cy="1051560"/>
          </a:xfrm>
          <a:prstGeom prst="roundRect">
            <a:avLst/>
          </a:prstGeom>
          <a:solidFill>
            <a:srgbClr val="A63A3A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360920" y="2834639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false closures caught and auto-reopened</a:t>
            </a:r>
          </a:p>
        </p:txBody>
      </p:sp>
      <p:sp>
        <p:nvSpPr>
          <p:cNvPr id="13" name="b13"/>
          <p:cNvSpPr/>
          <p:nvPr/>
        </p:nvSpPr>
        <p:spPr>
          <a:xfrm>
            <a:off x="9601200" y="1737360"/>
            <a:ext cx="2011680" cy="1051560"/>
          </a:xfrm>
          <a:prstGeom prst="roundRect">
            <a:avLst/>
          </a:prstGeom>
          <a:solidFill>
            <a:srgbClr val="B8860B"/>
          </a:solidFill>
        </p:spPr>
        <p:txBody>
          <a:bodyPr anchor="ctr" wrap="square" lIns="45720" rIns="45720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475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9601200" y="2834639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100" b="0" dirty="0">
                <a:solidFill>
                  <a:srgbClr val="333333"/>
                </a:solidFill>
                <a:latin typeface="Calibri"/>
              </a:rPr>
              <a:t>silent ambiguities now in a human queue</a:t>
            </a:r>
          </a:p>
        </p:txBody>
      </p:sp>
      <p:sp>
        <p:nvSpPr>
          <p:cNvPr id="15" name="b15"/>
          <p:cNvSpPr/>
          <p:nvPr/>
        </p:nvSpPr>
        <p:spPr>
          <a:xfrm>
            <a:off x="640080" y="4206240"/>
            <a:ext cx="10972800" cy="155448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A63A3A"/>
            </a:solidFill>
          </a:ln>
        </p:spPr>
        <p:txBody>
          <a:bodyPr anchor="ctr" wrap="square" lIns="45720" rIns="45720"/>
          <a:lstStyle/>
          <a:p>
            <a:pPr algn="ctr"/>
            <a:r>
              <a:rPr lang="en-US" sz="1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914400" y="4389120"/>
            <a:ext cx="10424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1" dirty="0">
                <a:solidFill>
                  <a:srgbClr val="A63A3A"/>
                </a:solidFill>
                <a:latin typeface="Calibri"/>
              </a:rPr>
              <a:t>The false-claim catch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Two tickets were closed without the access being removed. The next cycle detected both,</a:t>
            </a:r>
          </a:p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wrote “REMOVAL NOT VERIFIED” on the record, and reopened the tasks automatically.</a:t>
            </a:r>
          </a:p>
          <a:p>
            <a:pPr algn="l"/>
            <a:r>
              <a:rPr lang="en-US" sz="1300" b="1" dirty="0">
                <a:solidFill>
                  <a:srgbClr val="1F3B57"/>
                </a:solidFill>
                <a:latin typeface="Calibri"/>
              </a:rPr>
              <a:t>That is the difference between a control and an honor system.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2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1F3B57"/>
                </a:solidFill>
                <a:latin typeface="Calibri"/>
              </a:rPr>
              <a:t>Governance integration &amp; path to production</a:t>
            </a:r>
          </a:p>
        </p:txBody>
      </p:sp>
      <p:sp>
        <p:nvSpPr>
          <p:cNvPr id="4" name="b4"/>
          <p:cNvSpPr/>
          <p:nvPr/>
        </p:nvSpPr>
        <p:spPr>
          <a:xfrm>
            <a:off x="640080" y="1645920"/>
            <a:ext cx="3566160" cy="1371600"/>
          </a:xfrm>
          <a:prstGeom prst="roundRect">
            <a:avLst/>
          </a:prstGeom>
          <a:solidFill>
            <a:srgbClr val="4E6E8E"/>
          </a:solidFill>
        </p:spPr>
        <p:txBody>
          <a:bodyPr anchor="ctr" wrap="square" lIns="45720" rIns="45720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Quarterly UAR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392 items / 3 apps</a:t>
            </a:r>
          </a:p>
        </p:txBody>
      </p:sp>
      <p:sp>
        <p:nvSpPr>
          <p:cNvPr id="5" name="b5"/>
          <p:cNvSpPr/>
          <p:nvPr/>
        </p:nvSpPr>
        <p:spPr>
          <a:xfrm>
            <a:off x="4343400" y="1645920"/>
            <a:ext cx="3566160" cy="1371600"/>
          </a:xfrm>
          <a:prstGeom prst="roundRect">
            <a:avLst/>
          </a:prstGeom>
          <a:solidFill>
            <a:srgbClr val="4E6E8E"/>
          </a:solidFill>
        </p:spPr>
        <p:txBody>
          <a:bodyPr anchor="ctr" wrap="square" lIns="45720" rIns="45720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Targeted resource review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single app, 20 items</a:t>
            </a:r>
          </a:p>
        </p:txBody>
      </p:sp>
      <p:sp>
        <p:nvSpPr>
          <p:cNvPr id="6" name="b6"/>
          <p:cNvSpPr/>
          <p:nvPr/>
        </p:nvSpPr>
        <p:spPr>
          <a:xfrm>
            <a:off x="8046720" y="1645920"/>
            <a:ext cx="3566160" cy="1371600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Flagged-population campaign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fed by the biweekly review</a:t>
            </a:r>
          </a:p>
        </p:txBody>
      </p:sp>
      <p:sp>
        <p:nvSpPr>
          <p:cNvPr id="7" name="t7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300" b="0" dirty="0">
                <a:solidFill>
                  <a:srgbClr val="333333"/>
                </a:solidFill>
                <a:latin typeface="Calibri"/>
              </a:rPr>
              <a:t>The review's findings become certification scopes with no re-modeling — one data set, both controls.</a:t>
            </a:r>
          </a:p>
        </p:txBody>
      </p:sp>
      <p:sp>
        <p:nvSpPr>
          <p:cNvPr id="8" name="b8"/>
          <p:cNvSpPr/>
          <p:nvPr/>
        </p:nvSpPr>
        <p:spPr>
          <a:xfrm>
            <a:off x="640080" y="4023360"/>
            <a:ext cx="3291840" cy="100584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Now: automated detective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control, all apps with exports</a:t>
            </a:r>
          </a:p>
        </p:txBody>
      </p:sp>
      <p:sp>
        <p:nvSpPr>
          <p:cNvPr id="9" name="a9"/>
          <p:cNvSpPr/>
          <p:nvPr/>
        </p:nvSpPr>
        <p:spPr>
          <a:xfrm>
            <a:off x="4069080" y="4343400"/>
            <a:ext cx="640080" cy="365760"/>
          </a:xfrm>
          <a:prstGeom prst="rightArrow">
            <a:avLst/>
          </a:prstGeom>
          <a:solidFill>
            <a:srgbClr val="2A7F7F"/>
          </a:solidFill>
        </p:spPr>
        <p:txBody>
          <a:bodyPr/>
          <a:lstStyle/>
          <a:p/>
        </p:txBody>
      </p:sp>
      <p:sp>
        <p:nvSpPr>
          <p:cNvPr id="10" name="b10"/>
          <p:cNvSpPr/>
          <p:nvPr/>
        </p:nvSpPr>
        <p:spPr>
          <a:xfrm>
            <a:off x="4800600" y="4023360"/>
            <a:ext cx="3291840" cy="1005840"/>
          </a:xfrm>
          <a:prstGeom prst="roundRect">
            <a:avLst/>
          </a:prstGeom>
          <a:solidFill>
            <a:srgbClr val="1F3B57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Per-app SCIM onboarding: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verification in minutes, not weeks</a:t>
            </a:r>
          </a:p>
        </p:txBody>
      </p:sp>
      <p:sp>
        <p:nvSpPr>
          <p:cNvPr id="11" name="a11"/>
          <p:cNvSpPr/>
          <p:nvPr/>
        </p:nvSpPr>
        <p:spPr>
          <a:xfrm>
            <a:off x="8229600" y="4343400"/>
            <a:ext cx="640080" cy="365760"/>
          </a:xfrm>
          <a:prstGeom prst="rightArrow">
            <a:avLst/>
          </a:prstGeom>
          <a:solidFill>
            <a:srgbClr val="2A7F7F"/>
          </a:solidFill>
        </p:spPr>
        <p:txBody>
          <a:bodyPr/>
          <a:lstStyle/>
          <a:p/>
        </p:txBody>
      </p:sp>
      <p:sp>
        <p:nvSpPr>
          <p:cNvPr id="12" name="b12"/>
          <p:cNvSpPr/>
          <p:nvPr/>
        </p:nvSpPr>
        <p:spPr>
          <a:xfrm>
            <a:off x="8961120" y="4023360"/>
            <a:ext cx="2651760" cy="1005840"/>
          </a:xfrm>
          <a:prstGeom prst="roundRect">
            <a:avLst/>
          </a:prstGeom>
          <a:solidFill>
            <a:srgbClr val="2A7F7F"/>
          </a:solidFill>
        </p:spPr>
        <p:txBody>
          <a:bodyPr anchor="ctr" wrap="square" lIns="45720" r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Preventive control: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deprovision at termination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1" dirty="0">
                <a:solidFill>
                  <a:srgbClr val="1F3B57"/>
                </a:solidFill>
                <a:latin typeface="Calibri"/>
              </a:rPr>
              <a:t>End state: the review keeps running and trends toward zero findings — the evidence the preventive control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Term">
  <a:themeElements>
    <a:clrScheme name="B">
      <a:dk1>
        <a:srgbClr val="000000"/>
      </a:dk1>
      <a:lt1>
        <a:srgbClr val="FFFFFF"/>
      </a:lt1>
      <a:dk2>
        <a:srgbClr val="1F3B57"/>
      </a:dk2>
      <a:lt2>
        <a:srgbClr val="EEF2F6"/>
      </a:lt2>
      <a:accent1>
        <a:srgbClr val="2A7F7F"/>
      </a:accent1>
      <a:accent2>
        <a:srgbClr val="B8860B"/>
      </a:accent2>
      <a:accent3>
        <a:srgbClr val="A63A3A"/>
      </a:accent3>
      <a:accent4>
        <a:srgbClr val="4E6E8E"/>
      </a:accent4>
      <a:accent5>
        <a:srgbClr val="7A9E9F"/>
      </a:accent5>
      <a:accent6>
        <a:srgbClr val="C0A062"/>
      </a:accent6>
      <a:hlink>
        <a:srgbClr val="2A7F7F"/>
      </a:hlink>
      <a:folHlink>
        <a:srgbClr val="4E6E8E"/>
      </a:folHlink>
    </a:clrScheme>
    <a:fontScheme name="B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